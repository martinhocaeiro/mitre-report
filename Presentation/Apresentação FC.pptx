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7" r:id="rId9"/>
    <p:sldId id="264" r:id="rId10"/>
    <p:sldId id="265" r:id="rId11"/>
    <p:sldId id="266" r:id="rId12"/>
  </p:sldIdLst>
  <p:sldSz cx="12192000" cy="6858000"/>
  <p:notesSz cx="6858000" cy="9144000"/>
  <p:embeddedFontLst>
    <p:embeddedFont>
      <p:font typeface="Inter" panose="020B0604020202020204" charset="0"/>
      <p:regular r:id="rId14"/>
      <p:bold r:id="rId15"/>
      <p:italic r:id="rId16"/>
      <p:boldItalic r:id="rId17"/>
    </p:embeddedFont>
    <p:embeddedFont>
      <p:font typeface="Inter Light" panose="020B0604020202020204" charset="0"/>
      <p:regular r:id="rId18"/>
      <p:bold r:id="rId19"/>
      <p:italic r:id="rId20"/>
      <p:boldItalic r:id="rId21"/>
    </p:embeddedFont>
    <p:embeddedFont>
      <p:font typeface="Inter SemiBold" panose="020B0604020202020204" charset="0"/>
      <p:regular r:id="rId22"/>
      <p:bold r:id="rId23"/>
      <p:italic r:id="rId24"/>
      <p:boldItalic r:id="rId25"/>
    </p:embeddedFont>
    <p:embeddedFont>
      <p:font typeface="Orbitron" panose="020B0604020202020204" charset="0"/>
      <p:regular r:id="rId26"/>
      <p:bold r:id="rId2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D1B15BD-F5AE-44EB-80B7-763B2BFA0F4D}">
  <a:tblStyle styleId="{ED1B15BD-F5AE-44EB-80B7-763B2BFA0F4D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26" Type="http://schemas.openxmlformats.org/officeDocument/2006/relationships/font" Target="fonts/font13.fntdata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font" Target="fonts/font12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1.fntdata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font" Target="fonts/font10.fntdata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font" Target="fonts/font9.fntdata"/><Relationship Id="rId27" Type="http://schemas.openxmlformats.org/officeDocument/2006/relationships/font" Target="fonts/font14.fnt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" name="Google Shape;143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" name="Google Shape;15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>
          <a:extLst>
            <a:ext uri="{FF2B5EF4-FFF2-40B4-BE49-F238E27FC236}">
              <a16:creationId xmlns:a16="http://schemas.microsoft.com/office/drawing/2014/main" id="{5808BC07-2839-1DF6-68D2-1D22496E59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6:notes">
            <a:extLst>
              <a:ext uri="{FF2B5EF4-FFF2-40B4-BE49-F238E27FC236}">
                <a16:creationId xmlns:a16="http://schemas.microsoft.com/office/drawing/2014/main" id="{CC7ED2AF-73D2-F088-DC3B-F70AB795F6E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p6:notes">
            <a:extLst>
              <a:ext uri="{FF2B5EF4-FFF2-40B4-BE49-F238E27FC236}">
                <a16:creationId xmlns:a16="http://schemas.microsoft.com/office/drawing/2014/main" id="{7F8BD074-49C6-3E37-4914-D0FF00490F8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14677857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1" name="Google Shape;181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0" name="Google Shape;200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7" name="Google Shape;217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1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9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1455419" y="2786508"/>
            <a:ext cx="9281160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>
                <a:solidFill>
                  <a:srgbClr val="F1F5F9"/>
                </a:solidFill>
                <a:latin typeface="Orbitron"/>
                <a:ea typeface="Orbitron"/>
                <a:cs typeface="Orbitron"/>
                <a:sym typeface="Orbitron"/>
              </a:rPr>
              <a:t>ANÁLISE MITRE ATT&amp;CK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3452799" y="3748525"/>
            <a:ext cx="5694300" cy="160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94A3B8"/>
                </a:solidFill>
                <a:latin typeface="Inter Light"/>
                <a:ea typeface="Inter Light"/>
                <a:cs typeface="Inter Light"/>
                <a:sym typeface="Inter Light"/>
              </a:rPr>
              <a:t>Mestrado em Engenharia de Segurança Informática</a:t>
            </a:r>
            <a:endParaRPr sz="1800">
              <a:solidFill>
                <a:srgbClr val="94A3B8"/>
              </a:solidFill>
              <a:latin typeface="Inter Light"/>
              <a:ea typeface="Inter Light"/>
              <a:cs typeface="Inter Light"/>
              <a:sym typeface="Inter Light"/>
            </a:endParaRPr>
          </a:p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94A3B8"/>
                </a:solidFill>
                <a:latin typeface="Inter Light"/>
                <a:ea typeface="Inter Light"/>
                <a:cs typeface="Inter Light"/>
                <a:sym typeface="Inter Light"/>
              </a:rPr>
              <a:t>Fundamentos de Cibersegurança</a:t>
            </a:r>
            <a:endParaRPr sz="1800">
              <a:solidFill>
                <a:srgbClr val="94A3B8"/>
              </a:solidFill>
              <a:latin typeface="Inter Light"/>
              <a:ea typeface="Inter Light"/>
              <a:cs typeface="Inter Light"/>
              <a:sym typeface="Inter Light"/>
            </a:endParaRPr>
          </a:p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94A3B8"/>
              </a:solidFill>
              <a:latin typeface="Inter Light"/>
              <a:ea typeface="Inter Light"/>
              <a:cs typeface="Inter Light"/>
              <a:sym typeface="Inter Light"/>
            </a:endParaRPr>
          </a:p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94A3B8"/>
                </a:solidFill>
                <a:latin typeface="Inter Light"/>
                <a:ea typeface="Inter Light"/>
                <a:cs typeface="Inter Light"/>
                <a:sym typeface="Inter Light"/>
              </a:rPr>
              <a:t>Martinho Caeiro (23917)</a:t>
            </a:r>
            <a:endParaRPr sz="1800">
              <a:solidFill>
                <a:srgbClr val="94A3B8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pic>
        <p:nvPicPr>
          <p:cNvPr id="87" name="Google Shape;87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371600" y="234849"/>
            <a:ext cx="3361864" cy="1606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147100" y="234850"/>
            <a:ext cx="2833899" cy="170032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138;p17">
            <a:extLst>
              <a:ext uri="{FF2B5EF4-FFF2-40B4-BE49-F238E27FC236}">
                <a16:creationId xmlns:a16="http://schemas.microsoft.com/office/drawing/2014/main" id="{3D81D4AD-9D2C-0ACC-A6FF-58D727F8F84F}"/>
              </a:ext>
            </a:extLst>
          </p:cNvPr>
          <p:cNvSpPr/>
          <p:nvPr/>
        </p:nvSpPr>
        <p:spPr>
          <a:xfrm>
            <a:off x="3569110" y="4173593"/>
            <a:ext cx="5476567" cy="36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4"/>
          <p:cNvSpPr/>
          <p:nvPr/>
        </p:nvSpPr>
        <p:spPr>
          <a:xfrm>
            <a:off x="5524500" y="2067222"/>
            <a:ext cx="1143000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4"/>
          <p:cNvSpPr txBox="1"/>
          <p:nvPr/>
        </p:nvSpPr>
        <p:spPr>
          <a:xfrm>
            <a:off x="305276" y="2833687"/>
            <a:ext cx="11581447" cy="1352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b="1" i="0" u="none" strike="noStrike" cap="none">
                <a:solidFill>
                  <a:srgbClr val="F8FAFC"/>
                </a:solidFill>
                <a:latin typeface="Orbitron"/>
                <a:ea typeface="Orbitron"/>
                <a:cs typeface="Orbitron"/>
                <a:sym typeface="Orbitron"/>
              </a:rPr>
              <a:t>3.1 CYBER THREAT INFORMATION SHARING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3380145" y="4572000"/>
            <a:ext cx="5431709" cy="3670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 err="1">
                <a:solidFill>
                  <a:srgbClr val="CBD5E1"/>
                </a:solidFill>
                <a:latin typeface="Inter Light"/>
                <a:ea typeface="Inter Light"/>
                <a:cs typeface="Inter Light"/>
                <a:sym typeface="Inter Light"/>
              </a:rPr>
              <a:t>Mecanismos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Inter Light"/>
                <a:ea typeface="Inter Light"/>
                <a:cs typeface="Inter Light"/>
                <a:sym typeface="Inter Light"/>
              </a:rPr>
              <a:t> para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Inter Light"/>
                <a:ea typeface="Inter Light"/>
                <a:cs typeface="Inter Light"/>
                <a:sym typeface="Inter Light"/>
              </a:rPr>
              <a:t>deteção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Inter Light"/>
                <a:ea typeface="Inter Light"/>
                <a:cs typeface="Inter Light"/>
                <a:sym typeface="Inter Light"/>
              </a:rPr>
              <a:t>,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Inter Light"/>
                <a:ea typeface="Inter Light"/>
                <a:cs typeface="Inter Light"/>
                <a:sym typeface="Inter Light"/>
              </a:rPr>
              <a:t>prevenção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Inter Light"/>
                <a:ea typeface="Inter Light"/>
                <a:cs typeface="Inter Light"/>
                <a:sym typeface="Inter Light"/>
              </a:rPr>
              <a:t> e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Inter Light"/>
                <a:ea typeface="Inter Light"/>
                <a:cs typeface="Inter Light"/>
                <a:sym typeface="Inter Light"/>
              </a:rPr>
              <a:t>resposta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Inter Light"/>
                <a:ea typeface="Inter Light"/>
                <a:cs typeface="Inter Light"/>
                <a:sym typeface="Inter Light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Inter Light"/>
                <a:ea typeface="Inter Light"/>
                <a:cs typeface="Inter Light"/>
                <a:sym typeface="Inter Light"/>
              </a:rPr>
              <a:t>coletiva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Inter Light"/>
                <a:ea typeface="Inter Light"/>
                <a:cs typeface="Inter Light"/>
                <a:sym typeface="Inter Light"/>
              </a:rPr>
              <a:t>.</a:t>
            </a:r>
            <a:endParaRPr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23175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2209055"/>
            <a:ext cx="53244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5"/>
          <p:cNvSpPr txBox="1"/>
          <p:nvPr/>
        </p:nvSpPr>
        <p:spPr>
          <a:xfrm>
            <a:off x="581025" y="2209055"/>
            <a:ext cx="5324475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CBD5E1"/>
                </a:solidFill>
                <a:latin typeface="Inter Light"/>
                <a:ea typeface="Inter Light"/>
                <a:cs typeface="Inter Light"/>
                <a:sym typeface="Inter Light"/>
              </a:rPr>
              <a:t>O </a:t>
            </a:r>
            <a:r>
              <a:rPr lang="en-US" sz="1500" b="1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Trusted Automated </a:t>
            </a:r>
            <a:r>
              <a:rPr lang="en-US" sz="1500" b="1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eXchange</a:t>
            </a:r>
            <a:r>
              <a:rPr lang="en-US" sz="1500" b="1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of Indicator Information</a:t>
            </a:r>
            <a:r>
              <a:rPr lang="en-US" sz="1500" b="1" i="0" u="none" strike="noStrike" cap="none" dirty="0">
                <a:solidFill>
                  <a:srgbClr val="CBD5E1"/>
                </a:solidFill>
                <a:latin typeface="Inter Light"/>
                <a:ea typeface="Inter Light"/>
                <a:cs typeface="Inter Light"/>
                <a:sym typeface="Inter Light"/>
              </a:rPr>
              <a:t> 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Inter Light"/>
                <a:ea typeface="Inter Light"/>
                <a:cs typeface="Inter Light"/>
                <a:sym typeface="Inter Light"/>
              </a:rPr>
              <a:t>define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Inter Light"/>
                <a:ea typeface="Inter Light"/>
                <a:cs typeface="Inter Light"/>
                <a:sym typeface="Inter Light"/>
              </a:rPr>
              <a:t>protocolos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Inter Light"/>
                <a:ea typeface="Inter Light"/>
                <a:cs typeface="Inter Light"/>
                <a:sym typeface="Inter Light"/>
              </a:rPr>
              <a:t> para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Inter Light"/>
                <a:ea typeface="Inter Light"/>
                <a:cs typeface="Inter Light"/>
                <a:sym typeface="Inter Light"/>
              </a:rPr>
              <a:t>partilha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Inter Light"/>
                <a:ea typeface="Inter Light"/>
                <a:cs typeface="Inter Light"/>
                <a:sym typeface="Inter Light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Inter Light"/>
                <a:ea typeface="Inter Light"/>
                <a:cs typeface="Inter Light"/>
                <a:sym typeface="Inter Light"/>
              </a:rPr>
              <a:t>segura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Inter Light"/>
                <a:ea typeface="Inter Light"/>
                <a:cs typeface="Inter Light"/>
                <a:sym typeface="Inter Light"/>
              </a:rPr>
              <a:t> de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Inter Light"/>
                <a:ea typeface="Inter Light"/>
                <a:cs typeface="Inter Light"/>
                <a:sym typeface="Inter Light"/>
              </a:rPr>
              <a:t>ameaças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Inter Light"/>
                <a:ea typeface="Inter Light"/>
                <a:cs typeface="Inter Light"/>
                <a:sym typeface="Inter Light"/>
              </a:rPr>
              <a:t>.</a:t>
            </a:r>
            <a:endParaRPr dirty="0"/>
          </a:p>
        </p:txBody>
      </p:sp>
      <p:sp>
        <p:nvSpPr>
          <p:cNvPr id="105" name="Google Shape;105;p15"/>
          <p:cNvSpPr txBox="1"/>
          <p:nvPr/>
        </p:nvSpPr>
        <p:spPr>
          <a:xfrm>
            <a:off x="857250" y="3221330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CBD5E1"/>
                </a:solidFill>
                <a:latin typeface="Inter Light"/>
                <a:ea typeface="Inter Light"/>
                <a:cs typeface="Inter Light"/>
                <a:sym typeface="Inter Light"/>
              </a:rPr>
              <a:t>•</a:t>
            </a:r>
            <a:endParaRPr dirty="0"/>
          </a:p>
        </p:txBody>
      </p:sp>
      <p:sp>
        <p:nvSpPr>
          <p:cNvPr id="106" name="Google Shape;106;p15"/>
          <p:cNvSpPr txBox="1"/>
          <p:nvPr/>
        </p:nvSpPr>
        <p:spPr>
          <a:xfrm>
            <a:off x="962025" y="3152030"/>
            <a:ext cx="494340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Collections: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Inter Light"/>
                <a:ea typeface="Inter Light"/>
                <a:cs typeface="Inter Light"/>
                <a:sym typeface="Inter Light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Inter Light"/>
                <a:ea typeface="Inter Light"/>
                <a:cs typeface="Inter Light"/>
                <a:sym typeface="Inter Light"/>
              </a:rPr>
              <a:t>Repositórios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Inter Light"/>
                <a:ea typeface="Inter Light"/>
                <a:cs typeface="Inter Light"/>
                <a:sym typeface="Inter Light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Inter Light"/>
                <a:ea typeface="Inter Light"/>
                <a:cs typeface="Inter Light"/>
                <a:sym typeface="Inter Light"/>
              </a:rPr>
              <a:t>lógicos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Inter Light"/>
                <a:ea typeface="Inter Light"/>
                <a:cs typeface="Inter Light"/>
                <a:sym typeface="Inter Light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Inter Light"/>
                <a:ea typeface="Inter Light"/>
                <a:cs typeface="Inter Light"/>
                <a:sym typeface="Inter Light"/>
              </a:rPr>
              <a:t>onde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Inter Light"/>
                <a:ea typeface="Inter Light"/>
                <a:cs typeface="Inter Light"/>
                <a:sym typeface="Inter Light"/>
              </a:rPr>
              <a:t> conjuntos de dados de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Inter Light"/>
                <a:ea typeface="Inter Light"/>
                <a:cs typeface="Inter Light"/>
                <a:sym typeface="Inter Light"/>
              </a:rPr>
              <a:t>ciberameaças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Inter Light"/>
                <a:ea typeface="Inter Light"/>
                <a:cs typeface="Inter Light"/>
                <a:sym typeface="Inter Light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Inter Light"/>
                <a:ea typeface="Inter Light"/>
                <a:cs typeface="Inter Light"/>
                <a:sym typeface="Inter Light"/>
              </a:rPr>
              <a:t>são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Inter Light"/>
                <a:ea typeface="Inter Light"/>
                <a:cs typeface="Inter Light"/>
                <a:sym typeface="Inter Light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Inter Light"/>
                <a:ea typeface="Inter Light"/>
                <a:cs typeface="Inter Light"/>
                <a:sym typeface="Inter Light"/>
              </a:rPr>
              <a:t>armazenados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Inter Light"/>
                <a:ea typeface="Inter Light"/>
                <a:cs typeface="Inter Light"/>
                <a:sym typeface="Inter Light"/>
              </a:rPr>
              <a:t>.</a:t>
            </a:r>
            <a:endParaRPr sz="1500" dirty="0">
              <a:solidFill>
                <a:srgbClr val="CBD5E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107" name="Google Shape;107;p15"/>
          <p:cNvSpPr txBox="1"/>
          <p:nvPr/>
        </p:nvSpPr>
        <p:spPr>
          <a:xfrm>
            <a:off x="857250" y="3985580"/>
            <a:ext cx="1047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CBD5E1"/>
                </a:solidFill>
                <a:latin typeface="Inter Light"/>
                <a:ea typeface="Inter Light"/>
                <a:cs typeface="Inter Light"/>
                <a:sym typeface="Inter Light"/>
              </a:rPr>
              <a:t>•</a:t>
            </a:r>
            <a:endParaRPr dirty="0"/>
          </a:p>
        </p:txBody>
      </p:sp>
      <p:sp>
        <p:nvSpPr>
          <p:cNvPr id="108" name="Google Shape;108;p15"/>
          <p:cNvSpPr txBox="1"/>
          <p:nvPr/>
        </p:nvSpPr>
        <p:spPr>
          <a:xfrm>
            <a:off x="961963" y="3909380"/>
            <a:ext cx="494340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Channels: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Inter Light"/>
                <a:ea typeface="Inter Light"/>
                <a:cs typeface="Inter Light"/>
                <a:sym typeface="Inter Light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Inter Light"/>
                <a:ea typeface="Inter Light"/>
                <a:cs typeface="Inter Light"/>
                <a:sym typeface="Inter Light"/>
              </a:rPr>
              <a:t>Mecanismos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Inter Light"/>
                <a:ea typeface="Inter Light"/>
                <a:cs typeface="Inter Light"/>
                <a:sym typeface="Inter Light"/>
              </a:rPr>
              <a:t> de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Inter Light"/>
                <a:ea typeface="Inter Light"/>
                <a:cs typeface="Inter Light"/>
                <a:sym typeface="Inter Light"/>
              </a:rPr>
              <a:t>comunicações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Inter Light"/>
                <a:ea typeface="Inter Light"/>
                <a:cs typeface="Inter Light"/>
                <a:sym typeface="Inter Light"/>
              </a:rPr>
              <a:t> pub/sub para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Inter Light"/>
                <a:ea typeface="Inter Light"/>
                <a:cs typeface="Inter Light"/>
                <a:sym typeface="Inter Light"/>
              </a:rPr>
              <a:t>fluxos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Inter Light"/>
                <a:ea typeface="Inter Light"/>
                <a:cs typeface="Inter Light"/>
                <a:sym typeface="Inter Light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Inter Light"/>
                <a:ea typeface="Inter Light"/>
                <a:cs typeface="Inter Light"/>
                <a:sym typeface="Inter Light"/>
              </a:rPr>
              <a:t>contínuos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Inter Light"/>
                <a:ea typeface="Inter Light"/>
                <a:cs typeface="Inter Light"/>
                <a:sym typeface="Inter Light"/>
              </a:rPr>
              <a:t>.</a:t>
            </a:r>
            <a:endParaRPr dirty="0"/>
          </a:p>
        </p:txBody>
      </p:sp>
      <p:sp>
        <p:nvSpPr>
          <p:cNvPr id="109" name="Google Shape;109;p15"/>
          <p:cNvSpPr txBox="1"/>
          <p:nvPr/>
        </p:nvSpPr>
        <p:spPr>
          <a:xfrm>
            <a:off x="857250" y="4745180"/>
            <a:ext cx="1047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CBD5E1"/>
                </a:solidFill>
                <a:latin typeface="Inter Light"/>
                <a:ea typeface="Inter Light"/>
                <a:cs typeface="Inter Light"/>
                <a:sym typeface="Inter Light"/>
              </a:rPr>
              <a:t>•</a:t>
            </a:r>
            <a:endParaRPr dirty="0"/>
          </a:p>
        </p:txBody>
      </p:sp>
      <p:sp>
        <p:nvSpPr>
          <p:cNvPr id="110" name="Google Shape;110;p15"/>
          <p:cNvSpPr txBox="1"/>
          <p:nvPr/>
        </p:nvSpPr>
        <p:spPr>
          <a:xfrm>
            <a:off x="961988" y="4676030"/>
            <a:ext cx="4943400" cy="6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 Light"/>
                <a:ea typeface="Inter Light"/>
                <a:cs typeface="Inter Light"/>
                <a:sym typeface="Inter Light"/>
              </a:rPr>
              <a:t>Garante autenticação e controlo de acesso entre organizações.</a:t>
            </a:r>
            <a:endParaRPr/>
          </a:p>
        </p:txBody>
      </p:sp>
      <p:pic>
        <p:nvPicPr>
          <p:cNvPr id="111" name="Google Shape;111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96025" y="2218580"/>
            <a:ext cx="5305425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5"/>
          <p:cNvSpPr txBox="1"/>
          <p:nvPr/>
        </p:nvSpPr>
        <p:spPr>
          <a:xfrm>
            <a:off x="581025" y="913060"/>
            <a:ext cx="11581447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E2E8F0"/>
                </a:solidFill>
                <a:latin typeface="Orbitron"/>
                <a:ea typeface="Orbitron"/>
                <a:cs typeface="Orbitron"/>
                <a:sym typeface="Orbitron"/>
              </a:rPr>
              <a:t>TAXII: PARTILHA AUTOMATIZADA</a:t>
            </a:r>
            <a:endParaRPr/>
          </a:p>
        </p:txBody>
      </p:sp>
      <p:sp>
        <p:nvSpPr>
          <p:cNvPr id="113" name="Google Shape;113;p15"/>
          <p:cNvSpPr/>
          <p:nvPr/>
        </p:nvSpPr>
        <p:spPr>
          <a:xfrm>
            <a:off x="581025" y="1551235"/>
            <a:ext cx="1102995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Google Shape;118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2575768"/>
            <a:ext cx="3486150" cy="3076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52925" y="2575768"/>
            <a:ext cx="3486150" cy="3076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4825" y="2575768"/>
            <a:ext cx="3486150" cy="3076575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6"/>
          <p:cNvSpPr txBox="1"/>
          <p:nvPr/>
        </p:nvSpPr>
        <p:spPr>
          <a:xfrm>
            <a:off x="803910" y="3566368"/>
            <a:ext cx="304038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1F5F9"/>
                </a:solidFill>
                <a:latin typeface="Orbitron"/>
                <a:ea typeface="Orbitron"/>
                <a:cs typeface="Orbitron"/>
                <a:sym typeface="Orbitron"/>
              </a:rPr>
              <a:t>TTPS</a:t>
            </a:r>
            <a:endParaRPr/>
          </a:p>
        </p:txBody>
      </p:sp>
      <p:sp>
        <p:nvSpPr>
          <p:cNvPr id="123" name="Google Shape;123;p16"/>
          <p:cNvSpPr txBox="1"/>
          <p:nvPr/>
        </p:nvSpPr>
        <p:spPr>
          <a:xfrm>
            <a:off x="876300" y="3994993"/>
            <a:ext cx="2895600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 Light"/>
                <a:ea typeface="Inter Light"/>
                <a:cs typeface="Inter Light"/>
                <a:sym typeface="Inter Light"/>
              </a:rPr>
              <a:t>Modelos que representam comportamentos adversários e padrões de ataque padronizados.</a:t>
            </a:r>
            <a:endParaRPr/>
          </a:p>
        </p:txBody>
      </p:sp>
      <p:sp>
        <p:nvSpPr>
          <p:cNvPr id="124" name="Google Shape;124;p16"/>
          <p:cNvSpPr txBox="1"/>
          <p:nvPr/>
        </p:nvSpPr>
        <p:spPr>
          <a:xfrm>
            <a:off x="4575810" y="3566368"/>
            <a:ext cx="304038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1F5F9"/>
                </a:solidFill>
                <a:latin typeface="Orbitron"/>
                <a:ea typeface="Orbitron"/>
                <a:cs typeface="Orbitron"/>
                <a:sym typeface="Orbitron"/>
              </a:rPr>
              <a:t>ENTIDADES</a:t>
            </a:r>
            <a:endParaRPr/>
          </a:p>
        </p:txBody>
      </p:sp>
      <p:sp>
        <p:nvSpPr>
          <p:cNvPr id="125" name="Google Shape;125;p16"/>
          <p:cNvSpPr txBox="1"/>
          <p:nvPr/>
        </p:nvSpPr>
        <p:spPr>
          <a:xfrm>
            <a:off x="4648200" y="3994993"/>
            <a:ext cx="28956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 Light"/>
                <a:ea typeface="Inter Light"/>
                <a:cs typeface="Inter Light"/>
                <a:sym typeface="Inter Light"/>
              </a:rPr>
              <a:t>Descrição de atores de ameaça, campanhas específicas e intrusões conhecidas.</a:t>
            </a:r>
            <a:endParaRPr/>
          </a:p>
        </p:txBody>
      </p:sp>
      <p:sp>
        <p:nvSpPr>
          <p:cNvPr id="126" name="Google Shape;126;p16"/>
          <p:cNvSpPr txBox="1"/>
          <p:nvPr/>
        </p:nvSpPr>
        <p:spPr>
          <a:xfrm>
            <a:off x="8347710" y="3566368"/>
            <a:ext cx="304038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1F5F9"/>
                </a:solidFill>
                <a:latin typeface="Orbitron"/>
                <a:ea typeface="Orbitron"/>
                <a:cs typeface="Orbitron"/>
                <a:sym typeface="Orbitron"/>
              </a:rPr>
              <a:t>RELAÇÕES</a:t>
            </a:r>
            <a:endParaRPr/>
          </a:p>
        </p:txBody>
      </p:sp>
      <p:sp>
        <p:nvSpPr>
          <p:cNvPr id="127" name="Google Shape;127;p16"/>
          <p:cNvSpPr txBox="1"/>
          <p:nvPr/>
        </p:nvSpPr>
        <p:spPr>
          <a:xfrm>
            <a:off x="8420100" y="3994993"/>
            <a:ext cx="28956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 Light"/>
                <a:ea typeface="Inter Light"/>
                <a:cs typeface="Inter Light"/>
                <a:sym typeface="Inter Light"/>
              </a:rPr>
              <a:t>Correlação de indicadores e identificação de cadeias de ataque complexas (STIX 2.x).</a:t>
            </a:r>
            <a:endParaRPr/>
          </a:p>
        </p:txBody>
      </p:sp>
      <p:pic>
        <p:nvPicPr>
          <p:cNvPr id="128" name="Google Shape;128;p1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157412" y="2909143"/>
            <a:ext cx="33337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16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929312" y="2909143"/>
            <a:ext cx="33337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16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9653587" y="2909143"/>
            <a:ext cx="42862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16"/>
          <p:cNvSpPr txBox="1"/>
          <p:nvPr/>
        </p:nvSpPr>
        <p:spPr>
          <a:xfrm>
            <a:off x="581025" y="913060"/>
            <a:ext cx="11581447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E2E8F0"/>
                </a:solidFill>
                <a:latin typeface="Orbitron"/>
                <a:ea typeface="Orbitron"/>
                <a:cs typeface="Orbitron"/>
                <a:sym typeface="Orbitron"/>
              </a:rPr>
              <a:t>STIX: ESTRUTURA DA INFORMAÇÃO</a:t>
            </a:r>
            <a:endParaRPr/>
          </a:p>
        </p:txBody>
      </p:sp>
      <p:sp>
        <p:nvSpPr>
          <p:cNvPr id="132" name="Google Shape;132;p16"/>
          <p:cNvSpPr/>
          <p:nvPr/>
        </p:nvSpPr>
        <p:spPr>
          <a:xfrm>
            <a:off x="581025" y="1551235"/>
            <a:ext cx="1102995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7"/>
          <p:cNvSpPr/>
          <p:nvPr/>
        </p:nvSpPr>
        <p:spPr>
          <a:xfrm>
            <a:off x="5524500" y="2405360"/>
            <a:ext cx="1143000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7"/>
          <p:cNvSpPr txBox="1"/>
          <p:nvPr/>
        </p:nvSpPr>
        <p:spPr>
          <a:xfrm>
            <a:off x="460295" y="3171825"/>
            <a:ext cx="11271408" cy="676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b="1" i="0" u="none" strike="noStrike" cap="none">
                <a:solidFill>
                  <a:srgbClr val="F8FAFC"/>
                </a:solidFill>
                <a:latin typeface="Orbitron"/>
                <a:ea typeface="Orbitron"/>
                <a:cs typeface="Orbitron"/>
                <a:sym typeface="Orbitron"/>
              </a:rPr>
              <a:t>3.2 OPERATION MIDNIGHTECLIPSE</a:t>
            </a:r>
            <a:endParaRPr/>
          </a:p>
        </p:txBody>
      </p:sp>
      <p:sp>
        <p:nvSpPr>
          <p:cNvPr id="140" name="Google Shape;140;p17"/>
          <p:cNvSpPr txBox="1"/>
          <p:nvPr/>
        </p:nvSpPr>
        <p:spPr>
          <a:xfrm>
            <a:off x="4622006" y="4296696"/>
            <a:ext cx="294798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 err="1">
                <a:solidFill>
                  <a:srgbClr val="CBD5E1"/>
                </a:solidFill>
                <a:latin typeface="Inter Light"/>
                <a:ea typeface="Inter Light"/>
                <a:cs typeface="Inter Light"/>
                <a:sym typeface="Inter Light"/>
              </a:rPr>
              <a:t>Análise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Inter Light"/>
                <a:ea typeface="Inter Light"/>
                <a:cs typeface="Inter Light"/>
                <a:sym typeface="Inter Light"/>
              </a:rPr>
              <a:t> da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Inter Light"/>
                <a:ea typeface="Inter Light"/>
                <a:cs typeface="Inter Light"/>
                <a:sym typeface="Inter Light"/>
              </a:rPr>
              <a:t>Campanha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Inter Light"/>
                <a:ea typeface="Inter Light"/>
                <a:cs typeface="Inter Light"/>
                <a:sym typeface="Inter Light"/>
              </a:rPr>
              <a:t> ID C0048</a:t>
            </a:r>
            <a:endParaRPr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" name="Google Shape;145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8"/>
          <p:cNvSpPr txBox="1"/>
          <p:nvPr/>
        </p:nvSpPr>
        <p:spPr>
          <a:xfrm>
            <a:off x="581025" y="913060"/>
            <a:ext cx="5190648" cy="1009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E2E8F0"/>
                </a:solidFill>
                <a:latin typeface="Orbitron"/>
                <a:ea typeface="Orbitron"/>
                <a:cs typeface="Orbitron"/>
                <a:sym typeface="Orbitron"/>
              </a:rPr>
              <a:t>VISÃO GERAL DA CAMPANHA</a:t>
            </a:r>
            <a:endParaRPr/>
          </a:p>
        </p:txBody>
      </p:sp>
      <p:sp>
        <p:nvSpPr>
          <p:cNvPr id="147" name="Google Shape;147;p18"/>
          <p:cNvSpPr/>
          <p:nvPr/>
        </p:nvSpPr>
        <p:spPr>
          <a:xfrm>
            <a:off x="581025" y="2046535"/>
            <a:ext cx="4943475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8" name="Google Shape;148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096000" y="9525"/>
            <a:ext cx="6086475" cy="6838950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8"/>
          <p:cNvSpPr txBox="1"/>
          <p:nvPr/>
        </p:nvSpPr>
        <p:spPr>
          <a:xfrm>
            <a:off x="581025" y="3190130"/>
            <a:ext cx="5190648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EF4444"/>
                </a:solidFill>
                <a:latin typeface="Orbitron"/>
                <a:ea typeface="Orbitron"/>
                <a:cs typeface="Orbitron"/>
                <a:sym typeface="Orbitron"/>
              </a:rPr>
              <a:t>MARÇO - ABRIL 2024</a:t>
            </a:r>
            <a:endParaRPr/>
          </a:p>
        </p:txBody>
      </p:sp>
      <p:sp>
        <p:nvSpPr>
          <p:cNvPr id="150" name="Google Shape;150;p18"/>
          <p:cNvSpPr txBox="1"/>
          <p:nvPr/>
        </p:nvSpPr>
        <p:spPr>
          <a:xfrm>
            <a:off x="581025" y="3618755"/>
            <a:ext cx="4943475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CVE-2024-3400: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Inter Light"/>
                <a:ea typeface="Inter Light"/>
                <a:cs typeface="Inter Light"/>
                <a:sym typeface="Inter Light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Inter Light"/>
                <a:ea typeface="Inter Light"/>
                <a:cs typeface="Inter Light"/>
                <a:sym typeface="Inter Light"/>
              </a:rPr>
              <a:t>Exploração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Inter Light"/>
                <a:ea typeface="Inter Light"/>
                <a:cs typeface="Inter Light"/>
                <a:sym typeface="Inter Light"/>
              </a:rPr>
              <a:t> de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Inter Light"/>
                <a:ea typeface="Inter Light"/>
                <a:cs typeface="Inter Light"/>
                <a:sym typeface="Inter Light"/>
              </a:rPr>
              <a:t>vulnerabilidade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Inter Light"/>
                <a:ea typeface="Inter Light"/>
                <a:cs typeface="Inter Light"/>
                <a:sym typeface="Inter Light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Inter Light"/>
                <a:ea typeface="Inter Light"/>
                <a:cs typeface="Inter Light"/>
                <a:sym typeface="Inter Light"/>
              </a:rPr>
              <a:t>crítica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Inter Light"/>
                <a:ea typeface="Inter Light"/>
                <a:cs typeface="Inter Light"/>
                <a:sym typeface="Inter Light"/>
              </a:rPr>
              <a:t> no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Inter Light"/>
                <a:ea typeface="Inter Light"/>
                <a:cs typeface="Inter Light"/>
                <a:sym typeface="Inter Light"/>
              </a:rPr>
              <a:t>módulo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Inter Light"/>
                <a:ea typeface="Inter Light"/>
                <a:cs typeface="Inter Light"/>
                <a:sym typeface="Inter Light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Inter Light"/>
                <a:ea typeface="Inter Light"/>
                <a:cs typeface="Inter Light"/>
                <a:sym typeface="Inter Light"/>
              </a:rPr>
              <a:t>GlobalProtect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Inter Light"/>
                <a:ea typeface="Inter Light"/>
                <a:cs typeface="Inter Light"/>
                <a:sym typeface="Inter Light"/>
              </a:rPr>
              <a:t> de firewalls Palo Alto.</a:t>
            </a:r>
            <a:endParaRPr dirty="0"/>
          </a:p>
        </p:txBody>
      </p:sp>
      <p:sp>
        <p:nvSpPr>
          <p:cNvPr id="151" name="Google Shape;151;p18"/>
          <p:cNvSpPr txBox="1"/>
          <p:nvPr/>
        </p:nvSpPr>
        <p:spPr>
          <a:xfrm>
            <a:off x="581025" y="4514105"/>
            <a:ext cx="4943475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Ator UTA0218:</a:t>
            </a:r>
            <a:r>
              <a:rPr lang="en-US" sz="1500" b="1" i="0" u="none" strike="noStrike" cap="none" dirty="0">
                <a:solidFill>
                  <a:srgbClr val="CBD5E1"/>
                </a:solidFill>
                <a:latin typeface="Inter Light"/>
                <a:ea typeface="Inter Light"/>
                <a:cs typeface="Inter Light"/>
                <a:sym typeface="Inter Light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Inter Light"/>
                <a:ea typeface="Inter Light"/>
                <a:cs typeface="Inter Light"/>
                <a:sym typeface="Inter Light"/>
              </a:rPr>
              <a:t>Execução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Inter Light"/>
                <a:ea typeface="Inter Light"/>
                <a:cs typeface="Inter Light"/>
                <a:sym typeface="Inter Light"/>
              </a:rPr>
              <a:t> remota de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Inter Light"/>
                <a:ea typeface="Inter Light"/>
                <a:cs typeface="Inter Light"/>
                <a:sym typeface="Inter Light"/>
              </a:rPr>
              <a:t>código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Inter Light"/>
                <a:ea typeface="Inter Light"/>
                <a:cs typeface="Inter Light"/>
                <a:sym typeface="Inter Light"/>
              </a:rPr>
              <a:t> com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Inter Light"/>
                <a:ea typeface="Inter Light"/>
                <a:cs typeface="Inter Light"/>
                <a:sym typeface="Inter Light"/>
              </a:rPr>
              <a:t>privilégios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Inter Light"/>
                <a:ea typeface="Inter Light"/>
                <a:cs typeface="Inter Light"/>
                <a:sym typeface="Inter Light"/>
              </a:rPr>
              <a:t> </a:t>
            </a:r>
            <a:r>
              <a:rPr lang="en-US" sz="1500" b="0" i="1" u="none" strike="noStrike" cap="none" dirty="0">
                <a:solidFill>
                  <a:srgbClr val="CBD5E1"/>
                </a:solidFill>
                <a:latin typeface="Inter Light"/>
                <a:ea typeface="Inter Light"/>
                <a:cs typeface="Inter Light"/>
                <a:sym typeface="Inter Light"/>
              </a:rPr>
              <a:t>root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Inter Light"/>
                <a:ea typeface="Inter Light"/>
                <a:cs typeface="Inter Light"/>
                <a:sym typeface="Inter Light"/>
              </a:rPr>
              <a:t>.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Inter Light"/>
                <a:ea typeface="Inter Light"/>
                <a:cs typeface="Inter Light"/>
                <a:sym typeface="Inter Light"/>
              </a:rPr>
              <a:t>Ataque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Inter Light"/>
                <a:ea typeface="Inter Light"/>
                <a:cs typeface="Inter Light"/>
                <a:sym typeface="Inter Light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Inter Light"/>
                <a:ea typeface="Inter Light"/>
                <a:cs typeface="Inter Light"/>
                <a:sym typeface="Inter Light"/>
              </a:rPr>
              <a:t>direcionado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Inter Light"/>
                <a:ea typeface="Inter Light"/>
                <a:cs typeface="Inter Light"/>
                <a:sym typeface="Inter Light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Inter Light"/>
                <a:ea typeface="Inter Light"/>
                <a:cs typeface="Inter Light"/>
                <a:sym typeface="Inter Light"/>
              </a:rPr>
              <a:t>combinando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Inter Light"/>
                <a:ea typeface="Inter Light"/>
                <a:cs typeface="Inter Light"/>
                <a:sym typeface="Inter Light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Inter Light"/>
                <a:ea typeface="Inter Light"/>
                <a:cs typeface="Inter Light"/>
                <a:sym typeface="Inter Light"/>
              </a:rPr>
              <a:t>exploração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Inter Light"/>
                <a:ea typeface="Inter Light"/>
                <a:cs typeface="Inter Light"/>
                <a:sym typeface="Inter Light"/>
              </a:rPr>
              <a:t> zero-day e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Inter Light"/>
                <a:ea typeface="Inter Light"/>
                <a:cs typeface="Inter Light"/>
                <a:sym typeface="Inter Light"/>
              </a:rPr>
              <a:t>implantação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Inter Light"/>
                <a:ea typeface="Inter Light"/>
                <a:cs typeface="Inter Light"/>
                <a:sym typeface="Inter Light"/>
              </a:rPr>
              <a:t> de backdoors.</a:t>
            </a:r>
            <a:endParaRPr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" name="Google Shape;156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19"/>
          <p:cNvSpPr txBox="1"/>
          <p:nvPr/>
        </p:nvSpPr>
        <p:spPr>
          <a:xfrm>
            <a:off x="1057275" y="2918668"/>
            <a:ext cx="4848225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i="0" u="none" strike="noStrike" cap="none" dirty="0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T1190 Exploit Public-Facing App:</a:t>
            </a:r>
            <a:r>
              <a:rPr lang="en-US" sz="1500" i="0" u="none" strike="noStrike" cap="none" dirty="0">
                <a:solidFill>
                  <a:srgbClr val="CBD5E1"/>
                </a:solidFill>
                <a:latin typeface="Inter Light"/>
                <a:ea typeface="Inter Light"/>
                <a:cs typeface="Inter Light"/>
                <a:sym typeface="Inter Light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Inter Light"/>
                <a:ea typeface="Inter Light"/>
                <a:cs typeface="Inter Light"/>
                <a:sym typeface="Inter Light"/>
              </a:rPr>
              <a:t>Exploração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Inter Light"/>
                <a:ea typeface="Inter Light"/>
                <a:cs typeface="Inter Light"/>
                <a:sym typeface="Inter Light"/>
              </a:rPr>
              <a:t> da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Inter Light"/>
                <a:ea typeface="Inter Light"/>
                <a:cs typeface="Inter Light"/>
                <a:sym typeface="Inter Light"/>
              </a:rPr>
              <a:t>vulnerabilidade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Inter Light"/>
                <a:ea typeface="Inter Light"/>
                <a:cs typeface="Inter Light"/>
                <a:sym typeface="Inter Light"/>
              </a:rPr>
              <a:t> no firewall.</a:t>
            </a:r>
            <a:endParaRPr dirty="0"/>
          </a:p>
        </p:txBody>
      </p:sp>
      <p:sp>
        <p:nvSpPr>
          <p:cNvPr id="158" name="Google Shape;158;p19"/>
          <p:cNvSpPr txBox="1"/>
          <p:nvPr/>
        </p:nvSpPr>
        <p:spPr>
          <a:xfrm>
            <a:off x="1057275" y="3766393"/>
            <a:ext cx="484822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T1059.004 Unix Shell: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 Light"/>
                <a:ea typeface="Inter Light"/>
                <a:cs typeface="Inter Light"/>
                <a:sym typeface="Inter Light"/>
              </a:rPr>
              <a:t> Execução de comandos maliciosos via bash.</a:t>
            </a:r>
            <a:endParaRPr/>
          </a:p>
        </p:txBody>
      </p:sp>
      <p:sp>
        <p:nvSpPr>
          <p:cNvPr id="159" name="Google Shape;159;p19"/>
          <p:cNvSpPr txBox="1"/>
          <p:nvPr/>
        </p:nvSpPr>
        <p:spPr>
          <a:xfrm>
            <a:off x="1057275" y="4614118"/>
            <a:ext cx="484822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T1105 Ingress Tool Transfer: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 Light"/>
                <a:ea typeface="Inter Light"/>
                <a:cs typeface="Inter Light"/>
                <a:sym typeface="Inter Light"/>
              </a:rPr>
              <a:t> Download de ferramentas adicionais pós-compromisso.</a:t>
            </a:r>
            <a:endParaRPr/>
          </a:p>
        </p:txBody>
      </p:sp>
      <p:sp>
        <p:nvSpPr>
          <p:cNvPr id="160" name="Google Shape;160;p19"/>
          <p:cNvSpPr txBox="1"/>
          <p:nvPr/>
        </p:nvSpPr>
        <p:spPr>
          <a:xfrm>
            <a:off x="6762750" y="2918668"/>
            <a:ext cx="484822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T1053.003 Cron Jobs: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 Light"/>
                <a:ea typeface="Inter Light"/>
                <a:cs typeface="Inter Light"/>
                <a:sym typeface="Inter Light"/>
              </a:rPr>
              <a:t> Persistência através de tarefas agendadas.</a:t>
            </a:r>
            <a:endParaRPr/>
          </a:p>
        </p:txBody>
      </p:sp>
      <p:sp>
        <p:nvSpPr>
          <p:cNvPr id="161" name="Google Shape;161;p19"/>
          <p:cNvSpPr txBox="1"/>
          <p:nvPr/>
        </p:nvSpPr>
        <p:spPr>
          <a:xfrm>
            <a:off x="6762750" y="3766393"/>
            <a:ext cx="484822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T1090 Proxy (GOST):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 Light"/>
                <a:ea typeface="Inter Light"/>
                <a:cs typeface="Inter Light"/>
                <a:sym typeface="Inter Light"/>
              </a:rPr>
              <a:t> Tunelamento reverso para comunicação C2.</a:t>
            </a:r>
            <a:endParaRPr/>
          </a:p>
        </p:txBody>
      </p:sp>
      <p:sp>
        <p:nvSpPr>
          <p:cNvPr id="162" name="Google Shape;162;p19"/>
          <p:cNvSpPr txBox="1"/>
          <p:nvPr/>
        </p:nvSpPr>
        <p:spPr>
          <a:xfrm>
            <a:off x="6762750" y="4614118"/>
            <a:ext cx="484822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Software UPSTYLE: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 Light"/>
                <a:ea typeface="Inter Light"/>
                <a:cs typeface="Inter Light"/>
                <a:sym typeface="Inter Light"/>
              </a:rPr>
              <a:t> Backdoor Python usada para manter execução remota.</a:t>
            </a:r>
            <a:endParaRPr/>
          </a:p>
        </p:txBody>
      </p:sp>
      <p:pic>
        <p:nvPicPr>
          <p:cNvPr id="163" name="Google Shape;163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2956768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81025" y="2947243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1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81025" y="3794968"/>
            <a:ext cx="2571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19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81025" y="4642693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19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286500" y="3794968"/>
            <a:ext cx="2857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19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286500" y="4642693"/>
            <a:ext cx="17145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19"/>
          <p:cNvSpPr txBox="1"/>
          <p:nvPr/>
        </p:nvSpPr>
        <p:spPr>
          <a:xfrm>
            <a:off x="581025" y="913060"/>
            <a:ext cx="11581447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E2E8F0"/>
                </a:solidFill>
                <a:latin typeface="Orbitron"/>
                <a:ea typeface="Orbitron"/>
                <a:cs typeface="Orbitron"/>
                <a:sym typeface="Orbitron"/>
              </a:rPr>
              <a:t>TÉCNICAS E FERRAMENTAS OBSERVADAS</a:t>
            </a:r>
            <a:endParaRPr/>
          </a:p>
        </p:txBody>
      </p:sp>
      <p:sp>
        <p:nvSpPr>
          <p:cNvPr id="170" name="Google Shape;170;p19"/>
          <p:cNvSpPr/>
          <p:nvPr/>
        </p:nvSpPr>
        <p:spPr>
          <a:xfrm>
            <a:off x="581025" y="1551235"/>
            <a:ext cx="1102995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>
          <a:extLst>
            <a:ext uri="{FF2B5EF4-FFF2-40B4-BE49-F238E27FC236}">
              <a16:creationId xmlns:a16="http://schemas.microsoft.com/office/drawing/2014/main" id="{48D35AD8-68F3-DBD2-A436-1B023244F7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p17" descr="image.png">
            <a:extLst>
              <a:ext uri="{FF2B5EF4-FFF2-40B4-BE49-F238E27FC236}">
                <a16:creationId xmlns:a16="http://schemas.microsoft.com/office/drawing/2014/main" id="{4F69343C-C8B0-9FF1-4AFE-EDBE39A69C5D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7">
            <a:extLst>
              <a:ext uri="{FF2B5EF4-FFF2-40B4-BE49-F238E27FC236}">
                <a16:creationId xmlns:a16="http://schemas.microsoft.com/office/drawing/2014/main" id="{9917D7CE-F992-7E03-EEA1-3D1FEC918C21}"/>
              </a:ext>
            </a:extLst>
          </p:cNvPr>
          <p:cNvSpPr/>
          <p:nvPr/>
        </p:nvSpPr>
        <p:spPr>
          <a:xfrm>
            <a:off x="5524500" y="2405360"/>
            <a:ext cx="1143000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7">
            <a:extLst>
              <a:ext uri="{FF2B5EF4-FFF2-40B4-BE49-F238E27FC236}">
                <a16:creationId xmlns:a16="http://schemas.microsoft.com/office/drawing/2014/main" id="{718A6DEF-0CA3-C2E5-E465-6B177D2B6326}"/>
              </a:ext>
            </a:extLst>
          </p:cNvPr>
          <p:cNvSpPr txBox="1"/>
          <p:nvPr/>
        </p:nvSpPr>
        <p:spPr>
          <a:xfrm>
            <a:off x="460295" y="3171825"/>
            <a:ext cx="11271408" cy="692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/>
            <a:r>
              <a:rPr lang="en-US" sz="4400" b="1" dirty="0">
                <a:solidFill>
                  <a:srgbClr val="FFFFFF"/>
                </a:solidFill>
                <a:latin typeface="Orbitron"/>
                <a:ea typeface="Orbitron"/>
                <a:cs typeface="Orbitron"/>
                <a:sym typeface="Orbitron"/>
              </a:rPr>
              <a:t>3.3 TÁTICA COLLECTION</a:t>
            </a:r>
            <a:endParaRPr lang="en-US" sz="4400" dirty="0"/>
          </a:p>
        </p:txBody>
      </p:sp>
      <p:sp>
        <p:nvSpPr>
          <p:cNvPr id="140" name="Google Shape;140;p17">
            <a:extLst>
              <a:ext uri="{FF2B5EF4-FFF2-40B4-BE49-F238E27FC236}">
                <a16:creationId xmlns:a16="http://schemas.microsoft.com/office/drawing/2014/main" id="{446E107B-B43A-0D4B-DE1C-707FBFF274C6}"/>
              </a:ext>
            </a:extLst>
          </p:cNvPr>
          <p:cNvSpPr txBox="1"/>
          <p:nvPr/>
        </p:nvSpPr>
        <p:spPr>
          <a:xfrm>
            <a:off x="3510537" y="4408021"/>
            <a:ext cx="517092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>
              <a:lnSpc>
                <a:spcPct val="160000"/>
              </a:lnSpc>
            </a:pPr>
            <a:r>
              <a:rPr lang="pt-PT" sz="1500" dirty="0">
                <a:solidFill>
                  <a:srgbClr val="CBD5E1"/>
                </a:solidFill>
                <a:latin typeface="Inter Light"/>
                <a:ea typeface="Inter Light"/>
                <a:cs typeface="Inter Light"/>
                <a:sym typeface="Inter Light"/>
              </a:rPr>
              <a:t>A recolha de dados após o ataque ao sistema.</a:t>
            </a:r>
            <a:endParaRPr lang="pt-PT" sz="1600" dirty="0"/>
          </a:p>
        </p:txBody>
      </p:sp>
    </p:spTree>
    <p:extLst>
      <p:ext uri="{BB962C8B-B14F-4D97-AF65-F5344CB8AC3E}">
        <p14:creationId xmlns:p14="http://schemas.microsoft.com/office/powerpoint/2010/main" val="48573185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3" name="Google Shape;183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2575768"/>
            <a:ext cx="3486150" cy="3076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52925" y="2575768"/>
            <a:ext cx="3486150" cy="3076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21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4825" y="2575768"/>
            <a:ext cx="3486150" cy="3076575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21"/>
          <p:cNvSpPr txBox="1"/>
          <p:nvPr/>
        </p:nvSpPr>
        <p:spPr>
          <a:xfrm>
            <a:off x="803910" y="3566368"/>
            <a:ext cx="304038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1F5F9"/>
                </a:solidFill>
                <a:latin typeface="Orbitron"/>
                <a:ea typeface="Orbitron"/>
                <a:cs typeface="Orbitron"/>
                <a:sym typeface="Orbitron"/>
              </a:rPr>
              <a:t>ENTERPRISE</a:t>
            </a:r>
            <a:endParaRPr/>
          </a:p>
        </p:txBody>
      </p:sp>
      <p:sp>
        <p:nvSpPr>
          <p:cNvPr id="188" name="Google Shape;188;p21"/>
          <p:cNvSpPr txBox="1"/>
          <p:nvPr/>
        </p:nvSpPr>
        <p:spPr>
          <a:xfrm>
            <a:off x="840104" y="3994993"/>
            <a:ext cx="2967990" cy="1477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CBD5E1"/>
                </a:solidFill>
                <a:latin typeface="Inter Light"/>
                <a:ea typeface="Inter Light"/>
                <a:cs typeface="Inter Light"/>
                <a:sym typeface="Inter Light"/>
              </a:rPr>
              <a:t>Foco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Inter Light"/>
                <a:ea typeface="Inter Light"/>
                <a:cs typeface="Inter Light"/>
                <a:sym typeface="Inter Light"/>
              </a:rPr>
              <a:t>em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Inter Light"/>
                <a:ea typeface="Inter Light"/>
                <a:cs typeface="Inter Light"/>
                <a:sym typeface="Inter Light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Inter Light"/>
                <a:ea typeface="Inter Light"/>
                <a:cs typeface="Inter Light"/>
                <a:sym typeface="Inter Light"/>
              </a:rPr>
              <a:t>ficheiros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Inter Light"/>
                <a:ea typeface="Inter Light"/>
                <a:cs typeface="Inter Light"/>
                <a:sym typeface="Inter Light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Inter Light"/>
                <a:ea typeface="Inter Light"/>
                <a:cs typeface="Inter Light"/>
                <a:sym typeface="Inter Light"/>
              </a:rPr>
              <a:t>locais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Inter Light"/>
                <a:ea typeface="Inter Light"/>
                <a:cs typeface="Inter Light"/>
                <a:sym typeface="Inter Light"/>
              </a:rPr>
              <a:t>,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Inter Light"/>
                <a:ea typeface="Inter Light"/>
                <a:cs typeface="Inter Light"/>
                <a:sym typeface="Inter Light"/>
              </a:rPr>
              <a:t>credenciais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Inter Light"/>
                <a:ea typeface="Inter Light"/>
                <a:cs typeface="Inter Light"/>
                <a:sym typeface="Inter Light"/>
              </a:rPr>
              <a:t>,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Inter Light"/>
                <a:ea typeface="Inter Light"/>
                <a:cs typeface="Inter Light"/>
                <a:sym typeface="Inter Light"/>
              </a:rPr>
              <a:t>processos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Inter Light"/>
                <a:ea typeface="Inter Light"/>
                <a:cs typeface="Inter Light"/>
                <a:sym typeface="Inter Light"/>
              </a:rPr>
              <a:t> e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Inter Light"/>
                <a:ea typeface="Inter Light"/>
                <a:cs typeface="Inter Light"/>
                <a:sym typeface="Inter Light"/>
              </a:rPr>
              <a:t>memória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Inter Light"/>
                <a:ea typeface="Inter Light"/>
                <a:cs typeface="Inter Light"/>
                <a:sym typeface="Inter Light"/>
              </a:rPr>
              <a:t>.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Inter Light"/>
                <a:ea typeface="Inter Light"/>
                <a:cs typeface="Inter Light"/>
                <a:sym typeface="Inter Light"/>
              </a:rPr>
              <a:t>Ativos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Inter Light"/>
                <a:ea typeface="Inter Light"/>
                <a:cs typeface="Inter Light"/>
                <a:sym typeface="Inter Light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Inter Light"/>
                <a:ea typeface="Inter Light"/>
                <a:cs typeface="Inter Light"/>
                <a:sym typeface="Inter Light"/>
              </a:rPr>
              <a:t>essencialmente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Inter Light"/>
                <a:ea typeface="Inter Light"/>
                <a:cs typeface="Inter Light"/>
                <a:sym typeface="Inter Light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Inter Light"/>
                <a:ea typeface="Inter Light"/>
                <a:cs typeface="Inter Light"/>
                <a:sym typeface="Inter Light"/>
              </a:rPr>
              <a:t>digitais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Inter Light"/>
                <a:ea typeface="Inter Light"/>
                <a:cs typeface="Inter Light"/>
                <a:sym typeface="Inter Light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Inter Light"/>
                <a:ea typeface="Inter Light"/>
                <a:cs typeface="Inter Light"/>
                <a:sym typeface="Inter Light"/>
              </a:rPr>
              <a:t>em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Inter Light"/>
                <a:ea typeface="Inter Light"/>
                <a:cs typeface="Inter Light"/>
                <a:sym typeface="Inter Light"/>
              </a:rPr>
              <a:t> Windows/Linux.</a:t>
            </a:r>
            <a:endParaRPr dirty="0"/>
          </a:p>
        </p:txBody>
      </p:sp>
      <p:sp>
        <p:nvSpPr>
          <p:cNvPr id="189" name="Google Shape;189;p21"/>
          <p:cNvSpPr txBox="1"/>
          <p:nvPr/>
        </p:nvSpPr>
        <p:spPr>
          <a:xfrm>
            <a:off x="4575810" y="3566368"/>
            <a:ext cx="304038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1F5F9"/>
                </a:solidFill>
                <a:latin typeface="Orbitron"/>
                <a:ea typeface="Orbitron"/>
                <a:cs typeface="Orbitron"/>
                <a:sym typeface="Orbitron"/>
              </a:rPr>
              <a:t>MOBILE</a:t>
            </a:r>
            <a:endParaRPr/>
          </a:p>
        </p:txBody>
      </p:sp>
      <p:sp>
        <p:nvSpPr>
          <p:cNvPr id="190" name="Google Shape;190;p21"/>
          <p:cNvSpPr txBox="1"/>
          <p:nvPr/>
        </p:nvSpPr>
        <p:spPr>
          <a:xfrm>
            <a:off x="4648200" y="3994993"/>
            <a:ext cx="28956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 Light"/>
                <a:ea typeface="Inter Light"/>
                <a:cs typeface="Inter Light"/>
                <a:sym typeface="Inter Light"/>
              </a:rPr>
              <a:t>Condicionada por sandboxing. Foco em localização, contactos, fotos e sensores do dispositivo.</a:t>
            </a:r>
            <a:endParaRPr/>
          </a:p>
        </p:txBody>
      </p:sp>
      <p:sp>
        <p:nvSpPr>
          <p:cNvPr id="191" name="Google Shape;191;p21"/>
          <p:cNvSpPr txBox="1"/>
          <p:nvPr/>
        </p:nvSpPr>
        <p:spPr>
          <a:xfrm>
            <a:off x="8347710" y="3566368"/>
            <a:ext cx="304038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1F5F9"/>
                </a:solidFill>
                <a:latin typeface="Orbitron"/>
                <a:ea typeface="Orbitron"/>
                <a:cs typeface="Orbitron"/>
                <a:sym typeface="Orbitron"/>
              </a:rPr>
              <a:t>ICS</a:t>
            </a:r>
            <a:endParaRPr/>
          </a:p>
        </p:txBody>
      </p:sp>
      <p:sp>
        <p:nvSpPr>
          <p:cNvPr id="192" name="Google Shape;192;p21"/>
          <p:cNvSpPr txBox="1"/>
          <p:nvPr/>
        </p:nvSpPr>
        <p:spPr>
          <a:xfrm>
            <a:off x="8420100" y="3994993"/>
            <a:ext cx="28956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 Light"/>
                <a:ea typeface="Inter Light"/>
                <a:cs typeface="Inter Light"/>
                <a:sym typeface="Inter Light"/>
              </a:rPr>
              <a:t>Dados operacionais de PLCs e SCADA. Crítico para manipular processos físicos industriais.</a:t>
            </a:r>
            <a:endParaRPr/>
          </a:p>
        </p:txBody>
      </p:sp>
      <p:pic>
        <p:nvPicPr>
          <p:cNvPr id="193" name="Google Shape;193;p21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157412" y="2909143"/>
            <a:ext cx="33337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21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953125" y="2909143"/>
            <a:ext cx="2857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21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9653587" y="2909143"/>
            <a:ext cx="42862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21"/>
          <p:cNvSpPr txBox="1"/>
          <p:nvPr/>
        </p:nvSpPr>
        <p:spPr>
          <a:xfrm>
            <a:off x="581025" y="913060"/>
            <a:ext cx="11581447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E2E8F0"/>
                </a:solidFill>
                <a:latin typeface="Orbitron"/>
                <a:ea typeface="Orbitron"/>
                <a:cs typeface="Orbitron"/>
                <a:sym typeface="Orbitron"/>
              </a:rPr>
              <a:t>COLLECTION EM DIFERENTES AMBIENTES</a:t>
            </a:r>
            <a:endParaRPr/>
          </a:p>
        </p:txBody>
      </p:sp>
      <p:sp>
        <p:nvSpPr>
          <p:cNvPr id="197" name="Google Shape;197;p21"/>
          <p:cNvSpPr/>
          <p:nvPr/>
        </p:nvSpPr>
        <p:spPr>
          <a:xfrm>
            <a:off x="581025" y="1551235"/>
            <a:ext cx="1102995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2" name="Google Shape;202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03" name="Google Shape;203;p22"/>
          <p:cNvGraphicFramePr/>
          <p:nvPr/>
        </p:nvGraphicFramePr>
        <p:xfrm>
          <a:off x="581025" y="2518618"/>
          <a:ext cx="11029950" cy="3190900"/>
        </p:xfrm>
        <a:graphic>
          <a:graphicData uri="http://schemas.openxmlformats.org/drawingml/2006/table">
            <a:tbl>
              <a:tblPr firstRow="1" bandRow="1">
                <a:noFill/>
                <a:tableStyleId>{ED1B15BD-F5AE-44EB-80B7-763B2BFA0F4D}</a:tableStyleId>
              </a:tblPr>
              <a:tblGrid>
                <a:gridCol w="1323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31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7747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977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10B981"/>
                          </a:solidFill>
                          <a:latin typeface="Orbitron"/>
                          <a:ea typeface="Orbitron"/>
                          <a:cs typeface="Orbitron"/>
                          <a:sym typeface="Orbitron"/>
                        </a:rPr>
                        <a:t>Matriz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10B981"/>
                          </a:solidFill>
                          <a:latin typeface="Orbitron"/>
                          <a:ea typeface="Orbitron"/>
                          <a:cs typeface="Orbitron"/>
                          <a:sym typeface="Orbitron"/>
                        </a:rPr>
                        <a:t>ID da Técnica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10B981"/>
                          </a:solidFill>
                          <a:latin typeface="Orbitron"/>
                          <a:ea typeface="Orbitron"/>
                          <a:cs typeface="Orbitron"/>
                          <a:sym typeface="Orbitron"/>
                        </a:rPr>
                        <a:t>Nome e Descrição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977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3B82F6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Enterprise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CBD5E1"/>
                          </a:solidFill>
                          <a:latin typeface="Inter Light"/>
                          <a:ea typeface="Inter Light"/>
                          <a:cs typeface="Inter Light"/>
                          <a:sym typeface="Inter Light"/>
                        </a:rPr>
                        <a:t>T1005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Data from Local System:</a:t>
                      </a:r>
                      <a:r>
                        <a:rPr lang="en-US" sz="1500" b="0" i="0" u="none" strike="noStrike" cap="none">
                          <a:solidFill>
                            <a:srgbClr val="CBD5E1"/>
                          </a:solidFill>
                          <a:latin typeface="Inter Light"/>
                          <a:ea typeface="Inter Light"/>
                          <a:cs typeface="Inter Light"/>
                          <a:sym typeface="Inter Light"/>
                        </a:rPr>
                        <a:t> Recolha de ficheiros e credenciais armazenadas no SO.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977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10B98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Mobile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CBD5E1"/>
                          </a:solidFill>
                          <a:latin typeface="Inter Light"/>
                          <a:ea typeface="Inter Light"/>
                          <a:cs typeface="Inter Light"/>
                          <a:sym typeface="Inter Light"/>
                        </a:rPr>
                        <a:t>T1409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Access Stored Application Data:</a:t>
                      </a:r>
                      <a:r>
                        <a:rPr lang="en-US" sz="1500" b="0" i="0" u="none" strike="noStrike" cap="none">
                          <a:solidFill>
                            <a:srgbClr val="CBD5E1"/>
                          </a:solidFill>
                          <a:latin typeface="Inter Light"/>
                          <a:ea typeface="Inter Light"/>
                          <a:cs typeface="Inter Light"/>
                          <a:sym typeface="Inter Light"/>
                        </a:rPr>
                        <a:t> Acesso a BDs internas ou mensagens de apps.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77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EF4444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ICS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CBD5E1"/>
                          </a:solidFill>
                          <a:latin typeface="Inter Light"/>
                          <a:ea typeface="Inter Light"/>
                          <a:cs typeface="Inter Light"/>
                          <a:sym typeface="Inter Light"/>
                        </a:rPr>
                        <a:t>T0887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Operation Information:</a:t>
                      </a:r>
                      <a:r>
                        <a:rPr lang="en-US" sz="1500" b="0" i="0" u="none" strike="noStrike" cap="none">
                          <a:solidFill>
                            <a:srgbClr val="CBD5E1"/>
                          </a:solidFill>
                          <a:latin typeface="Inter Light"/>
                          <a:ea typeface="Inter Light"/>
                          <a:cs typeface="Inter Light"/>
                          <a:sym typeface="Inter Light"/>
                        </a:rPr>
                        <a:t> Recolha de estados de PLCs e leituras de sensores industriais.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04" name="Google Shape;204;p22"/>
          <p:cNvSpPr/>
          <p:nvPr/>
        </p:nvSpPr>
        <p:spPr>
          <a:xfrm>
            <a:off x="581025" y="3313955"/>
            <a:ext cx="1323975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22"/>
          <p:cNvSpPr/>
          <p:nvPr/>
        </p:nvSpPr>
        <p:spPr>
          <a:xfrm>
            <a:off x="1905000" y="3313955"/>
            <a:ext cx="1931193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22"/>
          <p:cNvSpPr/>
          <p:nvPr/>
        </p:nvSpPr>
        <p:spPr>
          <a:xfrm>
            <a:off x="3836193" y="3313955"/>
            <a:ext cx="7774781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22"/>
          <p:cNvSpPr/>
          <p:nvPr/>
        </p:nvSpPr>
        <p:spPr>
          <a:xfrm>
            <a:off x="581025" y="4009280"/>
            <a:ext cx="1323975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22"/>
          <p:cNvSpPr/>
          <p:nvPr/>
        </p:nvSpPr>
        <p:spPr>
          <a:xfrm>
            <a:off x="1905000" y="4009280"/>
            <a:ext cx="1931193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22"/>
          <p:cNvSpPr/>
          <p:nvPr/>
        </p:nvSpPr>
        <p:spPr>
          <a:xfrm>
            <a:off x="3836193" y="4009280"/>
            <a:ext cx="7774781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22"/>
          <p:cNvSpPr/>
          <p:nvPr/>
        </p:nvSpPr>
        <p:spPr>
          <a:xfrm>
            <a:off x="581025" y="4704605"/>
            <a:ext cx="1323975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22"/>
          <p:cNvSpPr/>
          <p:nvPr/>
        </p:nvSpPr>
        <p:spPr>
          <a:xfrm>
            <a:off x="1905000" y="4704605"/>
            <a:ext cx="1931193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22"/>
          <p:cNvSpPr/>
          <p:nvPr/>
        </p:nvSpPr>
        <p:spPr>
          <a:xfrm>
            <a:off x="3836193" y="4704605"/>
            <a:ext cx="7774781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22"/>
          <p:cNvSpPr txBox="1"/>
          <p:nvPr/>
        </p:nvSpPr>
        <p:spPr>
          <a:xfrm>
            <a:off x="581025" y="913060"/>
            <a:ext cx="11581447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E2E8F0"/>
                </a:solidFill>
                <a:latin typeface="Orbitron"/>
                <a:ea typeface="Orbitron"/>
                <a:cs typeface="Orbitron"/>
                <a:sym typeface="Orbitron"/>
              </a:rPr>
              <a:t>EXEMPLOS DE TÉCNICAS POR MATRIZ</a:t>
            </a:r>
            <a:endParaRPr/>
          </a:p>
        </p:txBody>
      </p:sp>
      <p:sp>
        <p:nvSpPr>
          <p:cNvPr id="214" name="Google Shape;214;p22"/>
          <p:cNvSpPr/>
          <p:nvPr/>
        </p:nvSpPr>
        <p:spPr>
          <a:xfrm>
            <a:off x="581025" y="1551235"/>
            <a:ext cx="1102995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9" name="Google Shape;219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23"/>
          <p:cNvSpPr txBox="1"/>
          <p:nvPr/>
        </p:nvSpPr>
        <p:spPr>
          <a:xfrm>
            <a:off x="305251" y="1720765"/>
            <a:ext cx="11581500" cy="7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0" b="1">
                <a:solidFill>
                  <a:srgbClr val="F1F5F9"/>
                </a:solidFill>
                <a:latin typeface="Orbitron"/>
                <a:ea typeface="Orbitron"/>
                <a:cs typeface="Orbitron"/>
                <a:sym typeface="Orbitron"/>
              </a:rPr>
              <a:t>OBRIGADO POR OUVIR!</a:t>
            </a:r>
            <a:endParaRPr sz="400"/>
          </a:p>
        </p:txBody>
      </p:sp>
      <p:pic>
        <p:nvPicPr>
          <p:cNvPr id="221" name="Google Shape;221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67250" y="3377381"/>
            <a:ext cx="2857500" cy="28575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138;p17">
            <a:extLst>
              <a:ext uri="{FF2B5EF4-FFF2-40B4-BE49-F238E27FC236}">
                <a16:creationId xmlns:a16="http://schemas.microsoft.com/office/drawing/2014/main" id="{81289F30-329A-E90C-071C-7CC4F1ECC80F}"/>
              </a:ext>
            </a:extLst>
          </p:cNvPr>
          <p:cNvSpPr/>
          <p:nvPr/>
        </p:nvSpPr>
        <p:spPr>
          <a:xfrm>
            <a:off x="5524500" y="2914773"/>
            <a:ext cx="1143000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389</Words>
  <Application>Microsoft Office PowerPoint</Application>
  <PresentationFormat>Widescreen</PresentationFormat>
  <Paragraphs>58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Orbitron</vt:lpstr>
      <vt:lpstr>Calibri</vt:lpstr>
      <vt:lpstr>Inter</vt:lpstr>
      <vt:lpstr>Inter Light</vt:lpstr>
      <vt:lpstr>Arial</vt:lpstr>
      <vt:lpstr>Inter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Martinho José Novo Caeiro</cp:lastModifiedBy>
  <cp:revision>5</cp:revision>
  <dcterms:modified xsi:type="dcterms:W3CDTF">2025-12-04T22:20:55Z</dcterms:modified>
</cp:coreProperties>
</file>